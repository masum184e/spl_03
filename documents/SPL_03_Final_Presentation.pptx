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12192000"/>
  <p:embeddedFontLst>
    <p:embeddedFont>
      <p:font typeface="PT Sans Narrow"/>
      <p:regular r:id="rId21"/>
      <p:bold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81994D-0E92-4ABB-B6F6-F8D5C077F427}">
  <a:tblStyle styleId="{9481994D-0E92-4ABB-B6F6-F8D5C077F4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TSansNarrow-bold.fntdata"/><Relationship Id="rId21" Type="http://schemas.openxmlformats.org/officeDocument/2006/relationships/font" Target="fonts/PTSansNarrow-regular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afc9b1be3_0_79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afc9b1be3_0_7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Passenger counting matters for scheduling and safety, but traditional sensors fail under crowding. Cameras are promising, but bus interiors cause severe occlusion, perspective distortion, and tiny heads — this is the core challenge we address.</a:t>
            </a:r>
            <a:endParaRPr/>
          </a:p>
        </p:txBody>
      </p:sp>
      <p:sp>
        <p:nvSpPr>
          <p:cNvPr id="86" name="Google Shape;8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9b65d3cce_1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f9b65d3cce_1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f9b65d3cce_1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8a843a74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8a843a74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f8a843a74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core idea: two branches run in parallel on the same frame — a detector for sparse scenes, a density regressor for dense/occluded scenes — and a lightweight, training-free fusion rule decides how to combine them per frame.</a:t>
            </a:r>
            <a:endParaRPr/>
          </a:p>
        </p:txBody>
      </p:sp>
      <p:sp>
        <p:nvSpPr>
          <p:cNvPr id="143" name="Google Shape;14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8a843a74e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f8a843a74e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8a843a74e_0_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8a843a74e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f8a843a74e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f8a843a74e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afc9b1be3_0_4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fafc9b1be3_0_4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fafc9b1be3_0_4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8a843a74e_0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f8a843a74e_0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f8a843a74e_0_1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Fine-tuning cut detector error roughly in half, and the fine-tuned detector alone was the best standalone model on the full benchmark. Both density networks performed far worse on their own — exactly the weakness that motivates fusion.</a:t>
            </a:r>
            <a:endParaRPr/>
          </a:p>
        </p:txBody>
      </p:sp>
      <p:sp>
        <p:nvSpPr>
          <p:cNvPr id="255" name="Google Shape;2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Neither hybrid beats the detector on average, but the CSRNet-based hybrid narrows the gap and, critically, slashes worst-case errors when the detector fails completely — that's why CSRNet was selected as the preferred fusion partner.</a:t>
            </a:r>
            <a:endParaRPr/>
          </a:p>
        </p:txBody>
      </p:sp>
      <p:sp>
        <p:nvSpPr>
          <p:cNvPr id="267" name="Google Shape;26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 summarize: we isolated the fine-tuning effect, proved the complementary failure modes empirically, and built and selected a working hybrid fusion framework — with clear limitations and a concrete roadmap for future work.</a:t>
            </a:r>
            <a:endParaRPr/>
          </a:p>
        </p:txBody>
      </p:sp>
      <p:sp>
        <p:nvSpPr>
          <p:cNvPr id="279" name="Google Shape;27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afc9b1be3_0_23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fafc9b1be3_0_23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10895000" y="181525"/>
            <a:ext cx="11094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B7A90"/>
                </a:solidFill>
              </a:rPr>
              <a:t>01/09/2026</a:t>
            </a:r>
            <a:endParaRPr>
              <a:solidFill>
                <a:srgbClr val="6B7A9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" name="Google Shape;16;p3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5"/>
          <p:cNvCxnSpPr/>
          <p:nvPr/>
        </p:nvCxnSpPr>
        <p:spPr>
          <a:xfrm>
            <a:off x="9343647" y="4235850"/>
            <a:ext cx="749700" cy="0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5"/>
          <p:cNvCxnSpPr/>
          <p:nvPr/>
        </p:nvCxnSpPr>
        <p:spPr>
          <a:xfrm>
            <a:off x="2100047" y="4211002"/>
            <a:ext cx="749700" cy="0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" name="Google Shape;25;p5"/>
          <p:cNvGrpSpPr/>
          <p:nvPr/>
        </p:nvGrpSpPr>
        <p:grpSpPr>
          <a:xfrm>
            <a:off x="1338859" y="1362666"/>
            <a:ext cx="9515557" cy="203195"/>
            <a:chOff x="1346429" y="1011300"/>
            <a:chExt cx="6452100" cy="152400"/>
          </a:xfrm>
        </p:grpSpPr>
        <p:cxnSp>
          <p:nvCxnSpPr>
            <p:cNvPr id="26" name="Google Shape;26;p5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1016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" name="Google Shape;27;p5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" name="Google Shape;28;p5"/>
          <p:cNvGrpSpPr/>
          <p:nvPr/>
        </p:nvGrpSpPr>
        <p:grpSpPr>
          <a:xfrm>
            <a:off x="1338868" y="5292001"/>
            <a:ext cx="9515557" cy="203195"/>
            <a:chOff x="1346435" y="3969088"/>
            <a:chExt cx="6452100" cy="152400"/>
          </a:xfrm>
        </p:grpSpPr>
        <p:cxnSp>
          <p:nvCxnSpPr>
            <p:cNvPr id="29" name="Google Shape;29;p5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1016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" name="Google Shape;30;p5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1" name="Google Shape;31;p5"/>
          <p:cNvSpPr txBox="1"/>
          <p:nvPr>
            <p:ph type="ctrTitle"/>
          </p:nvPr>
        </p:nvSpPr>
        <p:spPr>
          <a:xfrm>
            <a:off x="1338867" y="2335685"/>
            <a:ext cx="9515700" cy="136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2849633" y="3800052"/>
            <a:ext cx="64941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5"/>
          <p:cNvSpPr txBox="1"/>
          <p:nvPr/>
        </p:nvSpPr>
        <p:spPr>
          <a:xfrm>
            <a:off x="10549000" y="300467"/>
            <a:ext cx="14793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2"/>
                </a:solidFill>
              </a:rPr>
              <a:t>01/09/2026</a:t>
            </a:r>
            <a:endParaRPr sz="1900">
              <a:solidFill>
                <a:schemeClr val="lt2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-67" y="3429200"/>
            <a:ext cx="12192000" cy="34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415600" y="1086400"/>
            <a:ext cx="11428500" cy="1256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-100" y="6727600"/>
            <a:ext cx="121920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415600" y="593367"/>
            <a:ext cx="113607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15600" y="1688433"/>
            <a:ext cx="11360700" cy="440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15600" y="593367"/>
            <a:ext cx="113607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415600" y="1688233"/>
            <a:ext cx="5333100" cy="440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6443200" y="1688233"/>
            <a:ext cx="5333100" cy="440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15600" y="593367"/>
            <a:ext cx="113607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653667" y="701800"/>
            <a:ext cx="74847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12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2"/>
          <p:cNvSpPr txBox="1"/>
          <p:nvPr>
            <p:ph type="title"/>
          </p:nvPr>
        </p:nvSpPr>
        <p:spPr>
          <a:xfrm>
            <a:off x="354000" y="1386233"/>
            <a:ext cx="5393700" cy="2234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63" name="Google Shape;63;p12"/>
          <p:cNvSpPr txBox="1"/>
          <p:nvPr>
            <p:ph idx="1" type="subTitle"/>
          </p:nvPr>
        </p:nvSpPr>
        <p:spPr>
          <a:xfrm>
            <a:off x="354000" y="36358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4" name="Google Shape;64;p12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415600" y="56409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T Sans Narrow"/>
              <a:buNone/>
              <a:defRPr sz="32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/>
          <p:nvPr/>
        </p:nvSpPr>
        <p:spPr>
          <a:xfrm>
            <a:off x="-10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 txBox="1"/>
          <p:nvPr>
            <p:ph hasCustomPrompt="1" type="title"/>
          </p:nvPr>
        </p:nvSpPr>
        <p:spPr>
          <a:xfrm>
            <a:off x="415600" y="1739800"/>
            <a:ext cx="11360700" cy="2051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15600" y="3994200"/>
            <a:ext cx="11360700" cy="142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15600" y="593367"/>
            <a:ext cx="113607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15600" y="1688433"/>
            <a:ext cx="113607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Char char="●"/>
              <a:defRPr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○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■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●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○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■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●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○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■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1338200" y="1819000"/>
            <a:ext cx="9515700" cy="1772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2704F"/>
                </a:solidFill>
                <a:latin typeface="Cambria"/>
                <a:ea typeface="Cambria"/>
                <a:cs typeface="Cambria"/>
                <a:sym typeface="Cambria"/>
              </a:rPr>
              <a:t>Enhanced Urban Mobility through Deep Learning Based Real Time Passenger Head Counting and Occupancy Estimation</a:t>
            </a:r>
            <a:endParaRPr sz="3200">
              <a:solidFill>
                <a:srgbClr val="F2704F"/>
              </a:solidFill>
            </a:endParaRPr>
          </a:p>
        </p:txBody>
      </p:sp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2849633" y="3800052"/>
            <a:ext cx="6494100" cy="105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 Masum Billah</a:t>
            </a:r>
            <a:endParaRPr/>
          </a:p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>
            <a:off x="548640" y="45720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C9C0"/>
                </a:solidFill>
                <a:latin typeface="Calibri"/>
                <a:ea typeface="Calibri"/>
                <a:cs typeface="Calibri"/>
                <a:sym typeface="Calibri"/>
              </a:rPr>
              <a:t>INTRODUCTIO</a:t>
            </a:r>
            <a:r>
              <a:rPr b="1" i="0" lang="en-US" sz="1200" u="none" cap="none" strike="noStrike">
                <a:solidFill>
                  <a:srgbClr val="5FC9C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200" u="none" cap="none" strike="noStrike">
              <a:solidFill>
                <a:srgbClr val="5FC9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548640" y="777240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2704F"/>
                </a:solidFill>
                <a:latin typeface="Cambria"/>
                <a:ea typeface="Cambria"/>
                <a:cs typeface="Cambria"/>
                <a:sym typeface="Cambria"/>
              </a:rPr>
              <a:t>Why Accurate Passenger Counting Matters</a:t>
            </a:r>
            <a:endParaRPr b="1" sz="3000">
              <a:solidFill>
                <a:srgbClr val="F2704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660700" y="2475614"/>
            <a:ext cx="430500" cy="457200"/>
          </a:xfrm>
          <a:prstGeom prst="ellipse">
            <a:avLst/>
          </a:prstGeom>
          <a:solidFill>
            <a:srgbClr val="5FC9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660700" y="2475589"/>
            <a:ext cx="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1263293" y="2420750"/>
            <a:ext cx="4648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Why it matters</a:t>
            </a:r>
            <a:endParaRPr i="0" sz="16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1263293" y="2768222"/>
            <a:ext cx="473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1250"/>
              <a:buFont typeface="Calibri"/>
              <a:buNone/>
            </a:pPr>
            <a:r>
              <a:rPr i="0" lang="en-US" sz="1200" u="none" cap="none" strike="noStrike">
                <a:solidFill>
                  <a:srgbClr val="6B7A90"/>
                </a:solidFill>
                <a:latin typeface="Cambria"/>
                <a:ea typeface="Cambria"/>
                <a:cs typeface="Cambria"/>
                <a:sym typeface="Cambria"/>
              </a:rPr>
              <a:t>Accurate occupancy data drives scheduling, overcrowding prevention, and passenger safety.</a:t>
            </a:r>
            <a:endParaRPr i="0" sz="12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660700" y="3710053"/>
            <a:ext cx="4305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660700" y="3710066"/>
            <a:ext cx="430500" cy="457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1263293" y="3655189"/>
            <a:ext cx="4648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Sensors fall short</a:t>
            </a:r>
            <a:endParaRPr i="0" sz="16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1263293" y="4002661"/>
            <a:ext cx="473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1250"/>
              <a:buFont typeface="Calibri"/>
              <a:buNone/>
            </a:pPr>
            <a:r>
              <a:rPr i="0" lang="en-US" sz="1200" u="none" cap="none" strike="noStrike">
                <a:solidFill>
                  <a:srgbClr val="6B7A90"/>
                </a:solidFill>
                <a:latin typeface="Cambria"/>
                <a:ea typeface="Cambria"/>
                <a:cs typeface="Cambria"/>
                <a:sym typeface="Cambria"/>
              </a:rPr>
              <a:t>Infrared beams, pressure mats, and ticketing systems degrade during simultaneous boarding/alighting.</a:t>
            </a:r>
            <a:endParaRPr i="0" sz="12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660700" y="4944493"/>
            <a:ext cx="430500" cy="457200"/>
          </a:xfrm>
          <a:prstGeom prst="ellipse">
            <a:avLst/>
          </a:prstGeom>
          <a:solidFill>
            <a:srgbClr val="F270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 flipH="1">
            <a:off x="660638" y="4944518"/>
            <a:ext cx="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1263293" y="4889629"/>
            <a:ext cx="4648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Vision is promising — but different</a:t>
            </a:r>
            <a:endParaRPr i="0" sz="16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1263293" y="5237100"/>
            <a:ext cx="473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1250"/>
              <a:buFont typeface="Calibri"/>
              <a:buNone/>
            </a:pPr>
            <a:r>
              <a:rPr i="0" lang="en-US" sz="1200" u="none" cap="none" strike="noStrike">
                <a:solidFill>
                  <a:srgbClr val="6B7A90"/>
                </a:solidFill>
                <a:latin typeface="Cambria"/>
                <a:ea typeface="Cambria"/>
                <a:cs typeface="Cambria"/>
                <a:sym typeface="Cambria"/>
              </a:rPr>
              <a:t>Bus interiors bring heavy occlusion, ceiling-mounted perspective distortion, and tiny head sizes.</a:t>
            </a:r>
            <a:endParaRPr i="0" sz="12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566460" y="1758896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1200"/>
              <a:buFont typeface="Calibri"/>
              <a:buNone/>
            </a:pPr>
            <a:r>
              <a:rPr b="1" lang="en-US" sz="1800">
                <a:solidFill>
                  <a:srgbClr val="0B3D5C"/>
                </a:solidFill>
                <a:latin typeface="Cambria"/>
                <a:ea typeface="Cambria"/>
                <a:cs typeface="Cambria"/>
                <a:sym typeface="Cambria"/>
              </a:rPr>
              <a:t>Motivation</a:t>
            </a:r>
            <a:endParaRPr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6299835" y="1758886"/>
            <a:ext cx="475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00"/>
              <a:buFont typeface="Calibri"/>
              <a:buNone/>
            </a:pPr>
            <a:r>
              <a:rPr b="1" lang="en-US" sz="1800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i="0" sz="1800" u="none" cap="none" strike="noStrike">
              <a:solidFill>
                <a:srgbClr val="065A8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6334125" y="2491414"/>
            <a:ext cx="437100" cy="457200"/>
          </a:xfrm>
          <a:prstGeom prst="ellipse">
            <a:avLst/>
          </a:prstGeom>
          <a:solidFill>
            <a:srgbClr val="5FC9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6334125" y="2491389"/>
            <a:ext cx="43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6945922" y="2436550"/>
            <a:ext cx="471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500"/>
              <a:buFont typeface="Calibri"/>
              <a:buNone/>
            </a:pPr>
            <a:r>
              <a:rPr b="1" lang="en-US" sz="1600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Vision based counting system</a:t>
            </a:r>
            <a:endParaRPr i="0" sz="16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6945922" y="2784022"/>
            <a:ext cx="4806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1250"/>
              <a:buFont typeface="Calibri"/>
              <a:buNone/>
            </a:pPr>
            <a:r>
              <a:rPr lang="en-US" sz="1200">
                <a:solidFill>
                  <a:srgbClr val="6B7A90"/>
                </a:solidFill>
                <a:latin typeface="Cambria"/>
                <a:ea typeface="Cambria"/>
                <a:cs typeface="Cambria"/>
                <a:sym typeface="Cambria"/>
              </a:rPr>
              <a:t>Design and  test a </a:t>
            </a:r>
            <a:r>
              <a:rPr lang="en-US" sz="1200">
                <a:solidFill>
                  <a:srgbClr val="6B7A90"/>
                </a:solidFill>
                <a:latin typeface="Cambria"/>
                <a:ea typeface="Cambria"/>
                <a:cs typeface="Cambria"/>
                <a:sym typeface="Cambria"/>
              </a:rPr>
              <a:t>vision</a:t>
            </a:r>
            <a:r>
              <a:rPr lang="en-US" sz="1200">
                <a:solidFill>
                  <a:srgbClr val="6B7A90"/>
                </a:solidFill>
                <a:latin typeface="Cambria"/>
                <a:ea typeface="Cambria"/>
                <a:cs typeface="Cambria"/>
                <a:sym typeface="Cambria"/>
              </a:rPr>
              <a:t> based passenger count system within bus interior using head detection method</a:t>
            </a:r>
            <a:endParaRPr i="0" sz="12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6334125" y="3725853"/>
            <a:ext cx="4371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6334125" y="3725866"/>
            <a:ext cx="437100" cy="457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6945922" y="3670989"/>
            <a:ext cx="471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500"/>
              <a:buFont typeface="Calibri"/>
              <a:buNone/>
            </a:pPr>
            <a:r>
              <a:rPr b="1" lang="en-US" sz="1600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Object detection</a:t>
            </a:r>
            <a:endParaRPr i="0" sz="16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6945922" y="4018461"/>
            <a:ext cx="4806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1250"/>
              <a:buFont typeface="Calibri"/>
              <a:buNone/>
            </a:pPr>
            <a:r>
              <a:rPr lang="en-US" sz="1200">
                <a:solidFill>
                  <a:srgbClr val="6B7A90"/>
                </a:solidFill>
                <a:latin typeface="Cambria"/>
                <a:ea typeface="Cambria"/>
                <a:cs typeface="Cambria"/>
                <a:sym typeface="Cambria"/>
              </a:rPr>
              <a:t>Study different model and select the best model to detect passenger head in real bus scenario</a:t>
            </a:r>
            <a:endParaRPr i="0" sz="12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6334125" y="4960293"/>
            <a:ext cx="437100" cy="457200"/>
          </a:xfrm>
          <a:prstGeom prst="ellipse">
            <a:avLst/>
          </a:prstGeom>
          <a:solidFill>
            <a:srgbClr val="F270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 flipH="1">
            <a:off x="6334037" y="4960318"/>
            <a:ext cx="43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6945922" y="4905429"/>
            <a:ext cx="471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500"/>
              <a:buFont typeface="Calibri"/>
              <a:buNone/>
            </a:pPr>
            <a:r>
              <a:rPr b="1" lang="en-US" sz="1600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Density Estimation</a:t>
            </a:r>
            <a:endParaRPr i="0" sz="16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6945922" y="5252900"/>
            <a:ext cx="4806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1250"/>
              <a:buFont typeface="Calibri"/>
              <a:buNone/>
            </a:pPr>
            <a:r>
              <a:rPr lang="en-US" sz="1200">
                <a:solidFill>
                  <a:srgbClr val="6B7A90"/>
                </a:solidFill>
                <a:latin typeface="Cambria"/>
                <a:ea typeface="Cambria"/>
                <a:cs typeface="Cambria"/>
                <a:sym typeface="Cambria"/>
              </a:rPr>
              <a:t>Handle counting scenarios where the individuals heads are difficult to </a:t>
            </a:r>
            <a:r>
              <a:rPr lang="en-US" sz="1200">
                <a:solidFill>
                  <a:srgbClr val="6B7A90"/>
                </a:solidFill>
                <a:latin typeface="Cambria"/>
                <a:ea typeface="Cambria"/>
                <a:cs typeface="Cambria"/>
                <a:sym typeface="Cambria"/>
              </a:rPr>
              <a:t>accurately</a:t>
            </a:r>
            <a:r>
              <a:rPr lang="en-US" sz="1200">
                <a:solidFill>
                  <a:srgbClr val="6B7A90"/>
                </a:solidFill>
                <a:latin typeface="Cambria"/>
                <a:ea typeface="Cambria"/>
                <a:cs typeface="Cambria"/>
                <a:sym typeface="Cambria"/>
              </a:rPr>
              <a:t> localise</a:t>
            </a:r>
            <a:endParaRPr i="0" sz="12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/>
          <p:nvPr/>
        </p:nvSpPr>
        <p:spPr>
          <a:xfrm>
            <a:off x="548640" y="45720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5FC9C0"/>
                </a:solidFill>
                <a:latin typeface="Calibri"/>
                <a:ea typeface="Calibri"/>
                <a:cs typeface="Calibri"/>
                <a:sym typeface="Calibri"/>
              </a:rPr>
              <a:t>LITERATURE SUMMARY</a:t>
            </a:r>
            <a:endParaRPr b="0" i="0" sz="1200" u="none" cap="none" strike="noStrike">
              <a:solidFill>
                <a:srgbClr val="5FC9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548640" y="777240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2704F"/>
                </a:solidFill>
                <a:latin typeface="Cambria"/>
                <a:ea typeface="Cambria"/>
                <a:cs typeface="Cambria"/>
                <a:sym typeface="Cambria"/>
              </a:rPr>
              <a:t>Existing Work on Passenger Counting</a:t>
            </a:r>
            <a:endParaRPr b="1" sz="3000">
              <a:solidFill>
                <a:srgbClr val="F2704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24" name="Google Shape;124;p18"/>
          <p:cNvGraphicFramePr/>
          <p:nvPr/>
        </p:nvGraphicFramePr>
        <p:xfrm>
          <a:off x="714388" y="188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{9481994D-0E92-4ABB-B6F6-F8D5C077F427}</a:tableStyleId>
              </a:tblPr>
              <a:tblGrid>
                <a:gridCol w="2725825"/>
                <a:gridCol w="2417675"/>
                <a:gridCol w="2571750"/>
                <a:gridCol w="266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Study</a:t>
                      </a:r>
                      <a:endParaRPr b="1" sz="1800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5FC9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Approach</a:t>
                      </a:r>
                      <a:endParaRPr b="1" sz="1800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5FC9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Main Objective</a:t>
                      </a:r>
                      <a:endParaRPr b="1" sz="1800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5FC9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Limitation</a:t>
                      </a:r>
                      <a:endParaRPr b="1" sz="1800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5FC9C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Wi-Fi Passenger </a:t>
                      </a:r>
                      <a:r>
                        <a:rPr lang="en-US" sz="16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Counting</a:t>
                      </a:r>
                      <a:r>
                        <a:rPr lang="en-US" sz="16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(2020)</a:t>
                      </a:r>
                      <a:endParaRPr sz="16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De-randomization</a:t>
                      </a:r>
                      <a:endParaRPr sz="16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Privacy-preserving APC</a:t>
                      </a:r>
                      <a:endParaRPr sz="16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Close stop &amp; inactive Wi-Fi</a:t>
                      </a:r>
                      <a:endParaRPr sz="16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NAPC Neural Algorithm (2021)</a:t>
                      </a:r>
                      <a:endParaRPr sz="16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LSTM RNN + 3D LiDAR</a:t>
                      </a:r>
                      <a:endParaRPr sz="16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Real-time vehicle load</a:t>
                      </a:r>
                      <a:endParaRPr sz="16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Heavy </a:t>
                      </a:r>
                      <a:r>
                        <a:rPr lang="en-US" sz="16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annotation</a:t>
                      </a:r>
                      <a:r>
                        <a:rPr lang="en-US" sz="16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&amp; excludes kids</a:t>
                      </a:r>
                      <a:endParaRPr sz="16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Social Distance Monitoring(2022)</a:t>
                      </a:r>
                      <a:endParaRPr sz="16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OpenPose</a:t>
                      </a:r>
                      <a:endParaRPr sz="16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Distance &amp; crowd estimation</a:t>
                      </a:r>
                      <a:endParaRPr sz="16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High compute requirement</a:t>
                      </a:r>
                      <a:endParaRPr sz="16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Video APC Deployment (2025)</a:t>
                      </a:r>
                      <a:endParaRPr sz="16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MobileNetV3 SSD</a:t>
                      </a:r>
                      <a:endParaRPr sz="16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On-bus vs off-buss comparison</a:t>
                      </a:r>
                      <a:endParaRPr sz="16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Occlusion &amp; lighting sensitivity</a:t>
                      </a:r>
                      <a:endParaRPr sz="16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/>
          <p:nvPr/>
        </p:nvSpPr>
        <p:spPr>
          <a:xfrm>
            <a:off x="548640" y="1776191"/>
            <a:ext cx="5440800" cy="4480500"/>
          </a:xfrm>
          <a:prstGeom prst="roundRect">
            <a:avLst>
              <a:gd fmla="val 2041" name="adj"/>
            </a:avLst>
          </a:prstGeom>
          <a:solidFill>
            <a:srgbClr val="F1F6F9"/>
          </a:solidFill>
          <a:ln cap="flat" cmpd="sng" w="12700">
            <a:solidFill>
              <a:srgbClr val="D7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868680" y="2004791"/>
            <a:ext cx="475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0B3D5C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6217920" y="1776191"/>
            <a:ext cx="5440800" cy="4480500"/>
          </a:xfrm>
          <a:prstGeom prst="roundRect">
            <a:avLst>
              <a:gd fmla="val 2041" name="adj"/>
            </a:avLst>
          </a:prstGeom>
          <a:solidFill>
            <a:srgbClr val="5FC9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6537960" y="2004791"/>
            <a:ext cx="475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RESEARCH GAP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548640" y="45720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5FC9C0"/>
                </a:solidFill>
                <a:latin typeface="Calibri"/>
                <a:ea typeface="Calibri"/>
                <a:cs typeface="Calibri"/>
                <a:sym typeface="Calibri"/>
              </a:rPr>
              <a:t>LITERATURE SUMMARY</a:t>
            </a:r>
            <a:endParaRPr b="0" i="0" sz="1200" u="none" cap="none" strike="noStrike">
              <a:solidFill>
                <a:srgbClr val="5FC9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548640" y="777240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2704F"/>
                </a:solidFill>
                <a:latin typeface="Cambria"/>
                <a:ea typeface="Cambria"/>
                <a:cs typeface="Cambria"/>
                <a:sym typeface="Cambria"/>
              </a:rPr>
              <a:t>The Problem &amp; the Gap in Existing Work</a:t>
            </a:r>
            <a:endParaRPr b="1" sz="3000">
              <a:solidFill>
                <a:srgbClr val="F2704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822425" y="2382530"/>
            <a:ext cx="48771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Detection-based counting works in sparse scenes but breaks down under heavy occlusion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Density-regression counting handles dense crowds well but is unreliable for small groups.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No single method performs well across the full range of bus occupancy.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6519191" y="2396207"/>
            <a:ext cx="47550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Density-only methods estimate crowd density, not individuals, causing double-counting risk in video applications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No prior study systematically compares detection vs. density approaches under bus-specific occlusion and scale conditions.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No adaptive mechanism exists to route each scene to whichever counting strategy suits it best.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9" name="Google Shape;139;p1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C9C0"/>
                </a:solidFill>
                <a:latin typeface="Calibri"/>
                <a:ea typeface="Calibri"/>
                <a:cs typeface="Calibri"/>
                <a:sym typeface="Calibri"/>
              </a:rPr>
              <a:t>PROPOSED APPROACH</a:t>
            </a:r>
            <a:endParaRPr b="0" i="0" sz="1200" u="none" cap="none" strike="noStrike">
              <a:solidFill>
                <a:srgbClr val="5FC9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2704F"/>
                </a:solidFill>
                <a:latin typeface="Cambria"/>
                <a:ea typeface="Cambria"/>
                <a:cs typeface="Cambria"/>
                <a:sym typeface="Cambria"/>
              </a:rPr>
              <a:t>An Adaptive Hybrid Counting Framework</a:t>
            </a:r>
            <a:endParaRPr b="1" sz="3000">
              <a:solidFill>
                <a:srgbClr val="F2704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47" name="Google Shape;147;p20" title="ChatGPT Image Aug 31, 2026, 02_42_55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0950" y="1554473"/>
            <a:ext cx="6922007" cy="461467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C9C0"/>
                </a:solidFill>
                <a:latin typeface="Calibri"/>
                <a:ea typeface="Calibri"/>
                <a:cs typeface="Calibri"/>
                <a:sym typeface="Calibri"/>
              </a:rPr>
              <a:t>DATASETS</a:t>
            </a:r>
            <a:endParaRPr b="0" i="0" sz="1200" u="none" cap="none" strike="noStrike">
              <a:solidFill>
                <a:srgbClr val="5FC9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704F"/>
                </a:solidFill>
                <a:latin typeface="Cambria"/>
                <a:ea typeface="Cambria"/>
                <a:cs typeface="Cambria"/>
                <a:sym typeface="Cambria"/>
              </a:rPr>
              <a:t>Three Datasets, Three Distinct Roles</a:t>
            </a:r>
            <a:endParaRPr b="0" i="0" sz="3000" u="none" cap="none" strike="noStrike">
              <a:solidFill>
                <a:srgbClr val="F270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548640" y="1874520"/>
            <a:ext cx="3515258" cy="3291840"/>
          </a:xfrm>
          <a:prstGeom prst="roundRect">
            <a:avLst>
              <a:gd fmla="val 3333" name="adj"/>
            </a:avLst>
          </a:prstGeom>
          <a:solidFill>
            <a:srgbClr val="5FC9C0"/>
          </a:solidFill>
          <a:ln cap="flat" cmpd="sng" w="12700">
            <a:solidFill>
              <a:srgbClr val="DD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1"/>
          <p:cNvSpPr/>
          <p:nvPr/>
        </p:nvSpPr>
        <p:spPr>
          <a:xfrm>
            <a:off x="822949" y="2057400"/>
            <a:ext cx="2966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500"/>
              <a:buFont typeface="Cambri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SCUT-HEAD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822960" y="2880360"/>
            <a:ext cx="29666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lang="en-US" sz="1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Fine-tune &amp; validate</a:t>
            </a:r>
            <a:r>
              <a:rPr lang="en-US" sz="1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1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the sparse detector</a:t>
            </a:r>
            <a:endParaRPr sz="16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59" name="Google Shape;159;p21"/>
          <p:cNvCxnSpPr/>
          <p:nvPr/>
        </p:nvCxnSpPr>
        <p:spPr>
          <a:xfrm>
            <a:off x="822960" y="3845490"/>
            <a:ext cx="2966700" cy="0"/>
          </a:xfrm>
          <a:prstGeom prst="straightConnector1">
            <a:avLst/>
          </a:prstGeom>
          <a:noFill/>
          <a:ln cap="flat" cmpd="sng" w="12700">
            <a:solidFill>
              <a:srgbClr val="DDE5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21"/>
          <p:cNvSpPr/>
          <p:nvPr/>
        </p:nvSpPr>
        <p:spPr>
          <a:xfrm>
            <a:off x="822960" y="3934425"/>
            <a:ext cx="296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4,329 images</a:t>
            </a:r>
            <a:endParaRPr i="0" sz="16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4338218" y="1874520"/>
            <a:ext cx="3515258" cy="3291840"/>
          </a:xfrm>
          <a:prstGeom prst="roundRect">
            <a:avLst>
              <a:gd fmla="val 3333" name="adj"/>
            </a:avLst>
          </a:prstGeom>
          <a:solidFill>
            <a:srgbClr val="F2A93B"/>
          </a:solidFill>
          <a:ln cap="flat" cmpd="sng" w="12700">
            <a:solidFill>
              <a:srgbClr val="DD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1"/>
          <p:cNvSpPr/>
          <p:nvPr/>
        </p:nvSpPr>
        <p:spPr>
          <a:xfrm>
            <a:off x="4578186" y="2057400"/>
            <a:ext cx="3000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500"/>
              <a:buFont typeface="Cambri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ShanghaiTech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Part B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4612538" y="2880360"/>
            <a:ext cx="29666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Train &amp; validate</a:t>
            </a:r>
            <a:endParaRPr sz="16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density-regression nets</a:t>
            </a:r>
            <a:endParaRPr sz="16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64" name="Google Shape;164;p21"/>
          <p:cNvCxnSpPr/>
          <p:nvPr/>
        </p:nvCxnSpPr>
        <p:spPr>
          <a:xfrm>
            <a:off x="4612538" y="3829833"/>
            <a:ext cx="2966700" cy="0"/>
          </a:xfrm>
          <a:prstGeom prst="straightConnector1">
            <a:avLst/>
          </a:prstGeom>
          <a:noFill/>
          <a:ln cap="flat" cmpd="sng" w="12700">
            <a:solidFill>
              <a:srgbClr val="DDE5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21"/>
          <p:cNvSpPr/>
          <p:nvPr/>
        </p:nvSpPr>
        <p:spPr>
          <a:xfrm>
            <a:off x="4612538" y="3950083"/>
            <a:ext cx="296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716 images</a:t>
            </a:r>
            <a:endParaRPr i="0" sz="16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8127797" y="1874520"/>
            <a:ext cx="3515258" cy="3291840"/>
          </a:xfrm>
          <a:prstGeom prst="roundRect">
            <a:avLst>
              <a:gd fmla="val 3333" name="adj"/>
            </a:avLst>
          </a:prstGeom>
          <a:solidFill>
            <a:srgbClr val="F2704F"/>
          </a:solidFill>
          <a:ln cap="flat" cmpd="sng" w="12700">
            <a:solidFill>
              <a:srgbClr val="DD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8323838" y="2057400"/>
            <a:ext cx="3312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Public Transport Crowd </a:t>
            </a:r>
            <a:r>
              <a:rPr b="1" lang="en-US" sz="15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Counting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8402117" y="2880360"/>
            <a:ext cx="29666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704F"/>
              </a:buClr>
              <a:buSzPts val="1200"/>
              <a:buFont typeface="Calibri"/>
              <a:buNone/>
            </a:pPr>
            <a:r>
              <a:rPr lang="en-US" sz="1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Held-out final evaluation</a:t>
            </a:r>
            <a:endParaRPr sz="16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704F"/>
              </a:buClr>
              <a:buSzPts val="1200"/>
              <a:buFont typeface="Calibri"/>
              <a:buNone/>
            </a:pPr>
            <a:r>
              <a:rPr lang="en-US" sz="1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of the FULL pipeline only</a:t>
            </a:r>
            <a:endParaRPr sz="16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69" name="Google Shape;169;p21"/>
          <p:cNvCxnSpPr/>
          <p:nvPr/>
        </p:nvCxnSpPr>
        <p:spPr>
          <a:xfrm>
            <a:off x="8402117" y="3829833"/>
            <a:ext cx="2966700" cy="0"/>
          </a:xfrm>
          <a:prstGeom prst="straightConnector1">
            <a:avLst/>
          </a:prstGeom>
          <a:noFill/>
          <a:ln cap="flat" cmpd="sng" w="12700">
            <a:solidFill>
              <a:srgbClr val="DDE5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21"/>
          <p:cNvSpPr/>
          <p:nvPr/>
        </p:nvSpPr>
        <p:spPr>
          <a:xfrm>
            <a:off x="8402117" y="3918768"/>
            <a:ext cx="296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285 images</a:t>
            </a:r>
            <a:endParaRPr i="0" sz="16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/>
          <p:nvPr/>
        </p:nvSpPr>
        <p:spPr>
          <a:xfrm>
            <a:off x="548640" y="45720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C9C0"/>
                </a:solidFill>
                <a:latin typeface="Calibri"/>
                <a:ea typeface="Calibri"/>
                <a:cs typeface="Calibri"/>
                <a:sym typeface="Calibri"/>
              </a:rPr>
              <a:t>PROPOSED APPROACH</a:t>
            </a:r>
            <a:endParaRPr b="0" i="0" sz="1200" u="none" cap="none" strike="noStrike">
              <a:solidFill>
                <a:srgbClr val="5FC9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548640" y="777240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2704F"/>
                </a:solidFill>
                <a:latin typeface="Cambria"/>
                <a:ea typeface="Cambria"/>
                <a:cs typeface="Cambria"/>
                <a:sym typeface="Cambria"/>
              </a:rPr>
              <a:t>Sparse Branch</a:t>
            </a:r>
            <a:endParaRPr b="1" sz="3000">
              <a:solidFill>
                <a:srgbClr val="F2704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548640" y="1828800"/>
            <a:ext cx="3515400" cy="4251900"/>
          </a:xfrm>
          <a:prstGeom prst="roundRect">
            <a:avLst>
              <a:gd fmla="val 3121" name="adj"/>
            </a:avLst>
          </a:prstGeom>
          <a:solidFill>
            <a:srgbClr val="F4F7F9"/>
          </a:solidFill>
          <a:ln cap="flat" cmpd="sng" w="12700">
            <a:solidFill>
              <a:srgbClr val="DD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548640" y="1828800"/>
            <a:ext cx="3515400" cy="91500"/>
          </a:xfrm>
          <a:prstGeom prst="roundRect">
            <a:avLst>
              <a:gd fmla="val 16667" name="adj"/>
            </a:avLst>
          </a:prstGeom>
          <a:solidFill>
            <a:srgbClr val="5FC9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541600" y="3089250"/>
            <a:ext cx="351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400"/>
              <a:buFont typeface="Cambria"/>
              <a:buNone/>
            </a:pPr>
            <a:r>
              <a:rPr b="1" lang="en-US" sz="1600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Cascade Classifier</a:t>
            </a:r>
            <a:endParaRPr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4338218" y="1828800"/>
            <a:ext cx="3515400" cy="4251900"/>
          </a:xfrm>
          <a:prstGeom prst="roundRect">
            <a:avLst>
              <a:gd fmla="val 3121" name="adj"/>
            </a:avLst>
          </a:prstGeom>
          <a:solidFill>
            <a:srgbClr val="F4F7F9"/>
          </a:solidFill>
          <a:ln cap="flat" cmpd="sng" w="12700">
            <a:solidFill>
              <a:srgbClr val="DD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4338218" y="1828800"/>
            <a:ext cx="3515400" cy="91500"/>
          </a:xfrm>
          <a:prstGeom prst="roundRect">
            <a:avLst>
              <a:gd fmla="val 16667" name="adj"/>
            </a:avLst>
          </a:prstGeom>
          <a:solidFill>
            <a:srgbClr val="5FC9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8127797" y="1828800"/>
            <a:ext cx="3515400" cy="4251900"/>
          </a:xfrm>
          <a:prstGeom prst="roundRect">
            <a:avLst>
              <a:gd fmla="val 3121" name="adj"/>
            </a:avLst>
          </a:prstGeom>
          <a:solidFill>
            <a:srgbClr val="F4F7F9"/>
          </a:solidFill>
          <a:ln cap="flat" cmpd="sng" w="12700">
            <a:solidFill>
              <a:srgbClr val="DD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8127797" y="1828800"/>
            <a:ext cx="3515400" cy="91500"/>
          </a:xfrm>
          <a:prstGeom prst="roundRect">
            <a:avLst>
              <a:gd fmla="val 16667" name="adj"/>
            </a:avLst>
          </a:prstGeom>
          <a:solidFill>
            <a:srgbClr val="5FC9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738250" y="3697879"/>
            <a:ext cx="314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6B7A90"/>
                </a:solidFill>
                <a:latin typeface="Cambria"/>
                <a:ea typeface="Cambria"/>
                <a:cs typeface="Cambria"/>
                <a:sym typeface="Cambria"/>
              </a:rPr>
              <a:t>BASE ARCHITECTURE</a:t>
            </a:r>
            <a:endParaRPr i="0" sz="1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738250" y="4452532"/>
            <a:ext cx="314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6B7A90"/>
                </a:solidFill>
                <a:latin typeface="Cambria"/>
                <a:ea typeface="Cambria"/>
                <a:cs typeface="Cambria"/>
                <a:sym typeface="Cambria"/>
              </a:rPr>
              <a:t>TARGET OBJECT</a:t>
            </a:r>
            <a:endParaRPr i="0" sz="1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738250" y="4653700"/>
            <a:ext cx="314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250"/>
              <a:buFont typeface="Calibri"/>
              <a:buNone/>
            </a:pPr>
            <a:r>
              <a:rPr b="1" i="0" lang="en-US" sz="1600" u="none" cap="none" strike="noStrike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Face Region</a:t>
            </a:r>
            <a:endParaRPr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738250" y="5166200"/>
            <a:ext cx="314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6B7A90"/>
                </a:solidFill>
                <a:latin typeface="Cambria"/>
                <a:ea typeface="Cambria"/>
                <a:cs typeface="Cambria"/>
                <a:sym typeface="Cambria"/>
              </a:rPr>
              <a:t>TRAINING OVERHEAD</a:t>
            </a:r>
            <a:endParaRPr i="0" sz="1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738250" y="5367368"/>
            <a:ext cx="314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250"/>
              <a:buFont typeface="Calibri"/>
              <a:buNone/>
            </a:pPr>
            <a:r>
              <a:rPr b="1" i="0" lang="en-US" sz="1600" u="none" cap="none" strike="noStrike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Pre-Calculated</a:t>
            </a:r>
            <a:endParaRPr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91" name="Google Shape;191;p22" title="face-id-svgrepo-c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5750" y="2194555"/>
            <a:ext cx="731700" cy="73168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/>
          <p:nvPr/>
        </p:nvSpPr>
        <p:spPr>
          <a:xfrm>
            <a:off x="738250" y="3940031"/>
            <a:ext cx="314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250"/>
              <a:buFont typeface="Calibri"/>
              <a:buNone/>
            </a:pPr>
            <a:r>
              <a:rPr b="1" i="0" lang="en-US" sz="1600" u="none" cap="none" strike="noStrike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Haar Feature Cascade</a:t>
            </a:r>
            <a:endParaRPr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4355243" y="3091375"/>
            <a:ext cx="351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400"/>
              <a:buFont typeface="Cambria"/>
              <a:buNone/>
            </a:pPr>
            <a:r>
              <a:rPr b="1" lang="en-US" sz="1600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Pretrained Detector</a:t>
            </a:r>
            <a:endParaRPr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4551894" y="3700004"/>
            <a:ext cx="314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6B7A90"/>
                </a:solidFill>
                <a:latin typeface="Cambria"/>
                <a:ea typeface="Cambria"/>
                <a:cs typeface="Cambria"/>
                <a:sym typeface="Cambria"/>
              </a:rPr>
              <a:t>BASE ARCHITECTURE</a:t>
            </a:r>
            <a:endParaRPr i="0" sz="1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4551894" y="4454657"/>
            <a:ext cx="314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6B7A90"/>
                </a:solidFill>
                <a:latin typeface="Cambria"/>
                <a:ea typeface="Cambria"/>
                <a:cs typeface="Cambria"/>
                <a:sym typeface="Cambria"/>
              </a:rPr>
              <a:t>TARGET OBJECT</a:t>
            </a:r>
            <a:endParaRPr i="0" sz="1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4551894" y="4655825"/>
            <a:ext cx="314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250"/>
              <a:buFont typeface="Calibri"/>
              <a:buNone/>
            </a:pPr>
            <a:r>
              <a:rPr b="1" lang="en-US" sz="1600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Person Class</a:t>
            </a:r>
            <a:endParaRPr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4551894" y="5168326"/>
            <a:ext cx="314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6B7A90"/>
                </a:solidFill>
                <a:latin typeface="Cambria"/>
                <a:ea typeface="Cambria"/>
                <a:cs typeface="Cambria"/>
                <a:sym typeface="Cambria"/>
              </a:rPr>
              <a:t>TRAINING OVERHEAD</a:t>
            </a:r>
            <a:endParaRPr i="0" sz="1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4551894" y="5369493"/>
            <a:ext cx="314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250"/>
              <a:buFont typeface="Calibri"/>
              <a:buNone/>
            </a:pPr>
            <a:r>
              <a:rPr b="1" lang="en-US" sz="1600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Zero Fine Tuning</a:t>
            </a:r>
            <a:endParaRPr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4551894" y="3942156"/>
            <a:ext cx="314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250"/>
              <a:buFont typeface="Calibri"/>
              <a:buNone/>
            </a:pPr>
            <a:r>
              <a:rPr b="1" lang="en-US" sz="1600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YOLOv8 Standard</a:t>
            </a:r>
            <a:endParaRPr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8114241" y="3093500"/>
            <a:ext cx="351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400"/>
              <a:buFont typeface="Cambria"/>
              <a:buNone/>
            </a:pPr>
            <a:r>
              <a:rPr b="1" lang="en-US" sz="1600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Head Detector</a:t>
            </a:r>
            <a:endParaRPr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8310891" y="3702130"/>
            <a:ext cx="314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6B7A90"/>
                </a:solidFill>
                <a:latin typeface="Cambria"/>
                <a:ea typeface="Cambria"/>
                <a:cs typeface="Cambria"/>
                <a:sym typeface="Cambria"/>
              </a:rPr>
              <a:t>BASE ARCHITECTURE</a:t>
            </a:r>
            <a:endParaRPr i="0" sz="1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8310891" y="4456782"/>
            <a:ext cx="314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6B7A90"/>
                </a:solidFill>
                <a:latin typeface="Cambria"/>
                <a:ea typeface="Cambria"/>
                <a:cs typeface="Cambria"/>
                <a:sym typeface="Cambria"/>
              </a:rPr>
              <a:t>TARGET OBJECT</a:t>
            </a:r>
            <a:endParaRPr i="0" sz="1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8310891" y="4657950"/>
            <a:ext cx="314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250"/>
              <a:buFont typeface="Calibri"/>
              <a:buNone/>
            </a:pPr>
            <a:r>
              <a:rPr b="1" lang="en-US" sz="1600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Passenger Head</a:t>
            </a:r>
            <a:endParaRPr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8310891" y="5170451"/>
            <a:ext cx="314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6B7A90"/>
                </a:solidFill>
                <a:latin typeface="Cambria"/>
                <a:ea typeface="Cambria"/>
                <a:cs typeface="Cambria"/>
                <a:sym typeface="Cambria"/>
              </a:rPr>
              <a:t>TRAINING OVERHEAD</a:t>
            </a:r>
            <a:endParaRPr i="0" sz="1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8310891" y="5371618"/>
            <a:ext cx="314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250"/>
              <a:buFont typeface="Calibri"/>
              <a:buNone/>
            </a:pPr>
            <a:r>
              <a:rPr b="1" lang="en-US" sz="1600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50 Epoch</a:t>
            </a:r>
            <a:endParaRPr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8310891" y="3944281"/>
            <a:ext cx="314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1250"/>
              <a:buFont typeface="Calibri"/>
              <a:buNone/>
            </a:pPr>
            <a:r>
              <a:rPr b="1" lang="en-US" sz="1600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YOLOv8 Custom Head</a:t>
            </a:r>
            <a:endParaRPr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07" name="Google Shape;207;p22" title="person-walking-svgrepo-c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0075" y="2261424"/>
            <a:ext cx="731700" cy="73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 title="head-svgrepo-co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74025" y="2196525"/>
            <a:ext cx="863625" cy="86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/>
          <p:nvPr/>
        </p:nvSpPr>
        <p:spPr>
          <a:xfrm>
            <a:off x="548640" y="45720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C9C0"/>
                </a:solidFill>
                <a:latin typeface="Calibri"/>
                <a:ea typeface="Calibri"/>
                <a:cs typeface="Calibri"/>
                <a:sym typeface="Calibri"/>
              </a:rPr>
              <a:t>PROPOSED APPROACH</a:t>
            </a:r>
            <a:endParaRPr b="0" i="0" sz="1200" u="none" cap="none" strike="noStrike">
              <a:solidFill>
                <a:srgbClr val="5FC9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548640" y="777240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2704F"/>
                </a:solidFill>
                <a:latin typeface="Cambria"/>
                <a:ea typeface="Cambria"/>
                <a:cs typeface="Cambria"/>
                <a:sym typeface="Cambria"/>
              </a:rPr>
              <a:t>Dense Branch: MCNN</a:t>
            </a:r>
            <a:endParaRPr b="1" sz="3000">
              <a:solidFill>
                <a:srgbClr val="F2704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17" name="Google Shape;217;p23" title="multi_column_architecture.png"/>
          <p:cNvPicPr preferRelativeResize="0"/>
          <p:nvPr/>
        </p:nvPicPr>
        <p:blipFill rotWithShape="1">
          <a:blip r:embed="rId3">
            <a:alphaModFix/>
          </a:blip>
          <a:srcRect b="35922" l="0" r="0" t="0"/>
          <a:stretch/>
        </p:blipFill>
        <p:spPr>
          <a:xfrm>
            <a:off x="575925" y="1665975"/>
            <a:ext cx="10833125" cy="295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/>
          <p:nvPr/>
        </p:nvSpPr>
        <p:spPr>
          <a:xfrm>
            <a:off x="548640" y="45720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C9C0"/>
                </a:solidFill>
                <a:latin typeface="Calibri"/>
                <a:ea typeface="Calibri"/>
                <a:cs typeface="Calibri"/>
                <a:sym typeface="Calibri"/>
              </a:rPr>
              <a:t>PROPOSED APPROACH</a:t>
            </a:r>
            <a:endParaRPr b="0" i="0" sz="1200" u="none" cap="none" strike="noStrike">
              <a:solidFill>
                <a:srgbClr val="5FC9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548640" y="777240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2704F"/>
                </a:solidFill>
                <a:latin typeface="Cambria"/>
                <a:ea typeface="Cambria"/>
                <a:cs typeface="Cambria"/>
                <a:sym typeface="Cambria"/>
              </a:rPr>
              <a:t>Dense Branch: CSRNet</a:t>
            </a:r>
            <a:endParaRPr b="1" sz="3000">
              <a:solidFill>
                <a:srgbClr val="F2704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26" name="Google Shape;226;p24" title="csrnet_architecture.png"/>
          <p:cNvPicPr preferRelativeResize="0"/>
          <p:nvPr/>
        </p:nvPicPr>
        <p:blipFill rotWithShape="1">
          <a:blip r:embed="rId3">
            <a:alphaModFix/>
          </a:blip>
          <a:srcRect b="40656" l="0" r="0" t="0"/>
          <a:stretch/>
        </p:blipFill>
        <p:spPr>
          <a:xfrm>
            <a:off x="575896" y="1720625"/>
            <a:ext cx="10971423" cy="353080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/>
          <p:nvPr/>
        </p:nvSpPr>
        <p:spPr>
          <a:xfrm>
            <a:off x="548640" y="1885793"/>
            <a:ext cx="5440800" cy="4480500"/>
          </a:xfrm>
          <a:prstGeom prst="roundRect">
            <a:avLst>
              <a:gd fmla="val 2041" name="adj"/>
            </a:avLst>
          </a:prstGeom>
          <a:solidFill>
            <a:srgbClr val="F1F6F9"/>
          </a:solidFill>
          <a:ln cap="flat" cmpd="sng" w="12700">
            <a:solidFill>
              <a:srgbClr val="D7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868680" y="2114393"/>
            <a:ext cx="484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DENSITY DECISION</a:t>
            </a:r>
            <a:endParaRPr i="0" sz="16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5" name="Google Shape;235;p25"/>
          <p:cNvSpPr txBox="1"/>
          <p:nvPr/>
        </p:nvSpPr>
        <p:spPr>
          <a:xfrm>
            <a:off x="868680" y="2662487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50"/>
              <a:buFont typeface="Calibri"/>
              <a:buNone/>
            </a:pPr>
            <a:r>
              <a:rPr i="0" lang="en-US" sz="1600" u="none" cap="none" strike="noStrike">
                <a:solidFill>
                  <a:srgbClr val="1A2733"/>
                </a:solidFill>
                <a:latin typeface="Cambria"/>
                <a:ea typeface="Cambria"/>
                <a:cs typeface="Cambria"/>
                <a:sym typeface="Cambria"/>
              </a:rPr>
              <a:t>A frame is labelled dense if either signal crosses its threshold:</a:t>
            </a:r>
            <a:endParaRPr i="0" sz="16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6217920" y="1885793"/>
            <a:ext cx="5440800" cy="4480500"/>
          </a:xfrm>
          <a:prstGeom prst="roundRect">
            <a:avLst>
              <a:gd fmla="val 2041" name="adj"/>
            </a:avLst>
          </a:prstGeom>
          <a:solidFill>
            <a:srgbClr val="5FC9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6537960" y="2114393"/>
            <a:ext cx="484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FUSION RULE</a:t>
            </a:r>
            <a:endParaRPr b="1" i="0" sz="1600" u="none" cap="none" strike="noStrike">
              <a:solidFill>
                <a:srgbClr val="16213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8" name="Google Shape;238;p25"/>
          <p:cNvSpPr txBox="1"/>
          <p:nvPr/>
        </p:nvSpPr>
        <p:spPr>
          <a:xfrm>
            <a:off x="6537960" y="2662487"/>
            <a:ext cx="4846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EF2"/>
              </a:buClr>
              <a:buSzPts val="1250"/>
              <a:buFont typeface="Calibri"/>
              <a:buNone/>
            </a:pPr>
            <a:r>
              <a:rPr i="0" lang="en-US" sz="1600" u="none" cap="none" strike="noStrike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The scene label sets a primary (P) and secondary (S) branch count. Relative disagreement Δ = |P − S| / P then decides how they combine:</a:t>
            </a:r>
            <a:endParaRPr i="0" sz="1600" u="none" cap="none" strike="noStrike">
              <a:solidFill>
                <a:srgbClr val="16213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6537960" y="3745013"/>
            <a:ext cx="4846200" cy="567000"/>
          </a:xfrm>
          <a:prstGeom prst="roundRect">
            <a:avLst>
              <a:gd fmla="val 9677" name="adj"/>
            </a:avLst>
          </a:prstGeom>
          <a:solidFill>
            <a:srgbClr val="1C7293">
              <a:alpha val="402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6720840" y="3745013"/>
            <a:ext cx="1920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50"/>
              <a:buFont typeface="Courier New"/>
              <a:buNone/>
            </a:pPr>
            <a:r>
              <a:rPr b="1" i="0" lang="en-US" sz="1600" u="none" cap="none" strike="noStrike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P ≤ 0</a:t>
            </a:r>
            <a:endParaRPr i="0" sz="1600" u="none" cap="none" strike="noStrike">
              <a:solidFill>
                <a:srgbClr val="16213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1" name="Google Shape;241;p25"/>
          <p:cNvSpPr txBox="1"/>
          <p:nvPr/>
        </p:nvSpPr>
        <p:spPr>
          <a:xfrm>
            <a:off x="8686800" y="3745013"/>
            <a:ext cx="2606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0" lang="en-US" sz="16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C = max(P, S)</a:t>
            </a:r>
            <a:endParaRPr i="0" sz="1600" u="none" cap="none" strike="noStrike">
              <a:solidFill>
                <a:schemeClr val="accent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6537960" y="4585605"/>
            <a:ext cx="4846200" cy="567000"/>
          </a:xfrm>
          <a:prstGeom prst="roundRect">
            <a:avLst>
              <a:gd fmla="val 9677" name="adj"/>
            </a:avLst>
          </a:prstGeom>
          <a:solidFill>
            <a:srgbClr val="1C7293">
              <a:alpha val="402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6720840" y="4585605"/>
            <a:ext cx="1920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50"/>
              <a:buFont typeface="Courier New"/>
              <a:buNone/>
            </a:pPr>
            <a:r>
              <a:rPr b="1" i="0" lang="en-US" sz="1600" u="none" cap="none" strike="noStrike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Δ &gt; threshold</a:t>
            </a:r>
            <a:endParaRPr i="0" sz="1600" u="none" cap="none" strike="noStrike">
              <a:solidFill>
                <a:srgbClr val="16213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4" name="Google Shape;244;p25"/>
          <p:cNvSpPr txBox="1"/>
          <p:nvPr/>
        </p:nvSpPr>
        <p:spPr>
          <a:xfrm>
            <a:off x="8686800" y="4585605"/>
            <a:ext cx="2606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0" lang="en-US" sz="1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 = P  (trust primary)</a:t>
            </a:r>
            <a:endParaRPr i="0" sz="16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6537960" y="5453520"/>
            <a:ext cx="4846200" cy="567000"/>
          </a:xfrm>
          <a:prstGeom prst="roundRect">
            <a:avLst>
              <a:gd fmla="val 9677" name="adj"/>
            </a:avLst>
          </a:prstGeom>
          <a:solidFill>
            <a:srgbClr val="1C7293">
              <a:alpha val="402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6720840" y="5453520"/>
            <a:ext cx="1920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50"/>
              <a:buFont typeface="Courier New"/>
              <a:buNone/>
            </a:pPr>
            <a:r>
              <a:rPr b="1" i="0" lang="en-US" sz="1600" u="none" cap="none" strike="noStrike">
                <a:solidFill>
                  <a:srgbClr val="16213A"/>
                </a:solidFill>
                <a:latin typeface="Cambria"/>
                <a:ea typeface="Cambria"/>
                <a:cs typeface="Cambria"/>
                <a:sym typeface="Cambria"/>
              </a:rPr>
              <a:t>Δ ≤ threshold</a:t>
            </a:r>
            <a:endParaRPr i="0" sz="1600" u="none" cap="none" strike="noStrike">
              <a:solidFill>
                <a:srgbClr val="16213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8686800" y="5453520"/>
            <a:ext cx="2606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0" lang="en-US" sz="16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C = weighted average of P, S</a:t>
            </a:r>
            <a:endParaRPr i="0" sz="1600" u="none" cap="none" strike="noStrike">
              <a:solidFill>
                <a:schemeClr val="accent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48640" y="45720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C9C0"/>
                </a:solidFill>
                <a:latin typeface="Calibri"/>
                <a:ea typeface="Calibri"/>
                <a:cs typeface="Calibri"/>
                <a:sym typeface="Calibri"/>
              </a:rPr>
              <a:t>PROPOSED APPROACH</a:t>
            </a:r>
            <a:endParaRPr b="0" i="0" sz="1200" u="none" cap="none" strike="noStrike">
              <a:solidFill>
                <a:srgbClr val="5FC9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48640" y="777240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3D5C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2704F"/>
                </a:solidFill>
                <a:latin typeface="Cambria"/>
                <a:ea typeface="Cambria"/>
                <a:cs typeface="Cambria"/>
                <a:sym typeface="Cambria"/>
              </a:rPr>
              <a:t>Fusion Logic</a:t>
            </a:r>
            <a:endParaRPr b="1" sz="3000">
              <a:solidFill>
                <a:srgbClr val="F2704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0" name="Google Shape;250;p25"/>
          <p:cNvSpPr txBox="1"/>
          <p:nvPr/>
        </p:nvSpPr>
        <p:spPr>
          <a:xfrm>
            <a:off x="795100" y="3311507"/>
            <a:ext cx="4919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800"/>
              <a:buFont typeface="Cambria"/>
              <a:buChar char="❏"/>
            </a:pPr>
            <a:r>
              <a:rPr lang="en-US" sz="1800">
                <a:solidFill>
                  <a:srgbClr val="2C3249"/>
                </a:solidFill>
                <a:latin typeface="Cambria"/>
                <a:ea typeface="Cambria"/>
                <a:cs typeface="Cambria"/>
                <a:sym typeface="Cambria"/>
              </a:rPr>
              <a:t>Detection density ρ: detections per 1,000 px² of frame area</a:t>
            </a:r>
            <a:endParaRPr sz="1800">
              <a:solidFill>
                <a:srgbClr val="2C324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C324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800"/>
              <a:buFont typeface="Cambria"/>
              <a:buChar char="❏"/>
            </a:pPr>
            <a:r>
              <a:rPr lang="en-US" sz="1800">
                <a:solidFill>
                  <a:srgbClr val="2C3249"/>
                </a:solidFill>
                <a:latin typeface="Cambria"/>
                <a:ea typeface="Cambria"/>
                <a:cs typeface="Cambria"/>
                <a:sym typeface="Cambria"/>
              </a:rPr>
              <a:t>Pairwise overlap ratio r: share of detection pairs with IoU &gt; 0</a:t>
            </a:r>
            <a:endParaRPr sz="1800">
              <a:solidFill>
                <a:srgbClr val="2C3249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1" name="Google Shape;251;p2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C9C0"/>
                </a:solidFill>
                <a:latin typeface="Calibri"/>
                <a:ea typeface="Calibri"/>
                <a:cs typeface="Calibri"/>
                <a:sym typeface="Calibri"/>
              </a:rPr>
              <a:t>RESULTS I</a:t>
            </a:r>
            <a:endParaRPr b="0" i="0" sz="1200" u="none" cap="none" strike="noStrike">
              <a:solidFill>
                <a:srgbClr val="5FC9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704F"/>
                </a:solidFill>
                <a:latin typeface="Cambria"/>
                <a:ea typeface="Cambria"/>
                <a:cs typeface="Cambria"/>
                <a:sym typeface="Cambria"/>
              </a:rPr>
              <a:t>Standalone Models</a:t>
            </a:r>
            <a:endParaRPr b="0" i="0" sz="3000" u="none" cap="none" strike="noStrike">
              <a:solidFill>
                <a:srgbClr val="F270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 txBox="1"/>
          <p:nvPr/>
        </p:nvSpPr>
        <p:spPr>
          <a:xfrm>
            <a:off x="808150" y="5801925"/>
            <a:ext cx="510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4A6E"/>
                </a:solidFill>
                <a:latin typeface="Cambria"/>
                <a:ea typeface="Cambria"/>
                <a:cs typeface="Cambria"/>
                <a:sym typeface="Cambria"/>
              </a:rPr>
              <a:t>Fine-tuned YOLO</a:t>
            </a:r>
            <a:endParaRPr b="1" sz="1800">
              <a:solidFill>
                <a:srgbClr val="0F4A6E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688098"/>
            <a:ext cx="5025548" cy="373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5808" y="1688093"/>
            <a:ext cx="5265911" cy="373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 txBox="1"/>
          <p:nvPr/>
        </p:nvSpPr>
        <p:spPr>
          <a:xfrm>
            <a:off x="6156000" y="5804050"/>
            <a:ext cx="510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4A6E"/>
                </a:solidFill>
                <a:latin typeface="Cambria"/>
                <a:ea typeface="Cambria"/>
                <a:cs typeface="Cambria"/>
                <a:sym typeface="Cambria"/>
              </a:rPr>
              <a:t>CSRNet</a:t>
            </a:r>
            <a:endParaRPr b="1" sz="1800">
              <a:solidFill>
                <a:srgbClr val="0F4A6E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63" name="Google Shape;263;p2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C9C0"/>
                </a:solidFill>
                <a:latin typeface="Calibri"/>
                <a:ea typeface="Calibri"/>
                <a:cs typeface="Calibri"/>
                <a:sym typeface="Calibri"/>
              </a:rPr>
              <a:t>RESULTS II</a:t>
            </a:r>
            <a:endParaRPr b="0" i="0" sz="1200" u="none" cap="none" strike="noStrike">
              <a:solidFill>
                <a:srgbClr val="5FC9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7"/>
          <p:cNvSpPr/>
          <p:nvPr/>
        </p:nvSpPr>
        <p:spPr>
          <a:xfrm>
            <a:off x="542970" y="777240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704F"/>
                </a:solidFill>
                <a:latin typeface="Cambria"/>
                <a:ea typeface="Cambria"/>
                <a:cs typeface="Cambria"/>
                <a:sym typeface="Cambria"/>
              </a:rPr>
              <a:t>Hybrid Fusion</a:t>
            </a:r>
            <a:r>
              <a:rPr b="1" lang="en-US" sz="3000">
                <a:solidFill>
                  <a:srgbClr val="F2704F"/>
                </a:solidFill>
                <a:latin typeface="Cambria"/>
                <a:ea typeface="Cambria"/>
                <a:cs typeface="Cambria"/>
                <a:sym typeface="Cambria"/>
              </a:rPr>
              <a:t> Result</a:t>
            </a:r>
            <a:endParaRPr b="0" i="0" sz="3000" u="none" cap="none" strike="noStrike">
              <a:solidFill>
                <a:srgbClr val="F270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27" title="hybrid_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275" y="1761548"/>
            <a:ext cx="5478751" cy="303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7" title="comparis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5250" y="1847025"/>
            <a:ext cx="5764174" cy="310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27"/>
          <p:cNvSpPr txBox="1"/>
          <p:nvPr/>
        </p:nvSpPr>
        <p:spPr>
          <a:xfrm>
            <a:off x="808150" y="5801925"/>
            <a:ext cx="510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4A6E"/>
                </a:solidFill>
                <a:latin typeface="Cambria"/>
                <a:ea typeface="Cambria"/>
                <a:cs typeface="Cambria"/>
                <a:sym typeface="Cambria"/>
              </a:rPr>
              <a:t>Fine-tuned YOLO + CSRNet</a:t>
            </a:r>
            <a:endParaRPr b="1" sz="1800">
              <a:solidFill>
                <a:srgbClr val="0F4A6E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5" name="Google Shape;275;p27"/>
          <p:cNvSpPr txBox="1"/>
          <p:nvPr/>
        </p:nvSpPr>
        <p:spPr>
          <a:xfrm>
            <a:off x="6156000" y="5804050"/>
            <a:ext cx="510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4A6E"/>
                </a:solidFill>
                <a:latin typeface="Cambria"/>
                <a:ea typeface="Cambria"/>
                <a:cs typeface="Cambria"/>
                <a:sym typeface="Cambria"/>
              </a:rPr>
              <a:t>Comparison</a:t>
            </a:r>
            <a:endParaRPr b="1" sz="1800">
              <a:solidFill>
                <a:srgbClr val="0F4A6E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8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C9C0"/>
                </a:solidFill>
                <a:latin typeface="Calibri"/>
                <a:ea typeface="Calibri"/>
                <a:cs typeface="Calibri"/>
                <a:sym typeface="Calibri"/>
              </a:rPr>
              <a:t>CONTRIBUTION </a:t>
            </a:r>
            <a:r>
              <a:rPr b="1" lang="en-US" sz="1200">
                <a:solidFill>
                  <a:srgbClr val="5FC9C0"/>
                </a:solidFill>
                <a:latin typeface="Calibri"/>
                <a:ea typeface="Calibri"/>
                <a:cs typeface="Calibri"/>
                <a:sym typeface="Calibri"/>
              </a:rPr>
              <a:t>AND FUTURE WORK</a:t>
            </a:r>
            <a:endParaRPr b="0" i="0" sz="1200" u="none" cap="none" strike="noStrike">
              <a:solidFill>
                <a:srgbClr val="5FC9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8"/>
          <p:cNvSpPr/>
          <p:nvPr/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1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704F"/>
                </a:solidFill>
                <a:latin typeface="Cambria"/>
                <a:ea typeface="Cambria"/>
                <a:cs typeface="Cambria"/>
                <a:sym typeface="Cambria"/>
              </a:rPr>
              <a:t>Contributions, Limitations &amp; What's Next</a:t>
            </a:r>
            <a:endParaRPr b="0" i="0" sz="3000" u="none" cap="none" strike="noStrike">
              <a:solidFill>
                <a:srgbClr val="F270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8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5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MAIN CONTRIBUTIONS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8"/>
          <p:cNvSpPr/>
          <p:nvPr/>
        </p:nvSpPr>
        <p:spPr>
          <a:xfrm>
            <a:off x="6400800" y="1783080"/>
            <a:ext cx="52422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704F"/>
              </a:buClr>
              <a:buSzPts val="1250"/>
              <a:buFont typeface="Calibri"/>
              <a:buNone/>
            </a:pPr>
            <a:r>
              <a:rPr b="1" i="0" lang="en-US" sz="1550" u="none" cap="none" strike="noStrike">
                <a:solidFill>
                  <a:srgbClr val="F2704F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6400800" y="4003318"/>
            <a:ext cx="5242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50"/>
              <a:buFont typeface="Calibri"/>
              <a:buNone/>
            </a:pPr>
            <a:r>
              <a:rPr b="1" i="0" lang="en-US" sz="15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8"/>
          <p:cNvSpPr txBox="1"/>
          <p:nvPr/>
        </p:nvSpPr>
        <p:spPr>
          <a:xfrm>
            <a:off x="457204" y="2260950"/>
            <a:ext cx="5307900" cy="3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Isolated the specific effect of head-level fine-tuning on detection accuracy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Proved detection and density methods fail in opposite density regimes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Designed a lightweight, training-free adaptive fusion rule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Evidence-based selection between competing hybrid configurations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7" name="Google Shape;287;p28"/>
          <p:cNvSpPr txBox="1"/>
          <p:nvPr/>
        </p:nvSpPr>
        <p:spPr>
          <a:xfrm>
            <a:off x="6344425" y="2213975"/>
            <a:ext cx="5386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Single 285-image test set; limited scene diversity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Fusion threshold empirically fit, not independently validated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8" name="Google Shape;288;p28"/>
          <p:cNvSpPr txBox="1"/>
          <p:nvPr/>
        </p:nvSpPr>
        <p:spPr>
          <a:xfrm>
            <a:off x="6422732" y="4562600"/>
            <a:ext cx="5307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Learned, confidence-weighted fusion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Temporal fusion using video sequences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Domain-specific fine-tuning on real bus footage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9" name="Google Shape;289;p2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29"/>
          <p:cNvGrpSpPr/>
          <p:nvPr/>
        </p:nvGrpSpPr>
        <p:grpSpPr>
          <a:xfrm>
            <a:off x="0" y="1284118"/>
            <a:ext cx="12192239" cy="4145510"/>
            <a:chOff x="0" y="-57150"/>
            <a:chExt cx="4816592" cy="1637700"/>
          </a:xfrm>
        </p:grpSpPr>
        <p:sp>
          <p:nvSpPr>
            <p:cNvPr id="295" name="Google Shape;295;p29"/>
            <p:cNvSpPr/>
            <p:nvPr/>
          </p:nvSpPr>
          <p:spPr>
            <a:xfrm>
              <a:off x="0" y="0"/>
              <a:ext cx="4816592" cy="1580419"/>
            </a:xfrm>
            <a:custGeom>
              <a:rect b="b" l="l" r="r" t="t"/>
              <a:pathLst>
                <a:path extrusionOk="0" h="158041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80419"/>
                  </a:lnTo>
                  <a:lnTo>
                    <a:pt x="0" y="1580419"/>
                  </a:lnTo>
                  <a:close/>
                </a:path>
              </a:pathLst>
            </a:custGeom>
            <a:solidFill>
              <a:srgbClr val="5FC9C0"/>
            </a:solidFill>
            <a:ln>
              <a:noFill/>
            </a:ln>
          </p:spPr>
        </p:sp>
        <p:sp>
          <p:nvSpPr>
            <p:cNvPr id="296" name="Google Shape;296;p29"/>
            <p:cNvSpPr txBox="1"/>
            <p:nvPr/>
          </p:nvSpPr>
          <p:spPr>
            <a:xfrm>
              <a:off x="0" y="-57150"/>
              <a:ext cx="4816500" cy="1637700"/>
            </a:xfrm>
            <a:prstGeom prst="rect">
              <a:avLst/>
            </a:prstGeom>
            <a:solidFill>
              <a:srgbClr val="5FC9C0"/>
            </a:solidFill>
            <a:ln>
              <a:noFill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7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7" name="Google Shape;297;p29"/>
          <p:cNvGrpSpPr/>
          <p:nvPr/>
        </p:nvGrpSpPr>
        <p:grpSpPr>
          <a:xfrm>
            <a:off x="2902889" y="2543384"/>
            <a:ext cx="6386481" cy="1626523"/>
            <a:chOff x="0" y="0"/>
            <a:chExt cx="2523004" cy="642564"/>
          </a:xfrm>
        </p:grpSpPr>
        <p:sp>
          <p:nvSpPr>
            <p:cNvPr id="298" name="Google Shape;298;p29"/>
            <p:cNvSpPr/>
            <p:nvPr/>
          </p:nvSpPr>
          <p:spPr>
            <a:xfrm>
              <a:off x="0" y="0"/>
              <a:ext cx="2522991" cy="630428"/>
            </a:xfrm>
            <a:custGeom>
              <a:rect b="b" l="l" r="r" t="t"/>
              <a:pathLst>
                <a:path extrusionOk="0" h="630428" w="2522991">
                  <a:moveTo>
                    <a:pt x="0" y="0"/>
                  </a:moveTo>
                  <a:lnTo>
                    <a:pt x="2522991" y="0"/>
                  </a:lnTo>
                  <a:lnTo>
                    <a:pt x="2522991" y="630428"/>
                  </a:lnTo>
                  <a:lnTo>
                    <a:pt x="0" y="630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571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99" name="Google Shape;299;p29"/>
            <p:cNvSpPr txBox="1"/>
            <p:nvPr/>
          </p:nvSpPr>
          <p:spPr>
            <a:xfrm>
              <a:off x="4" y="12264"/>
              <a:ext cx="2523000" cy="6303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875" lIns="33875" spcFirstLastPara="1" rIns="33875" wrap="square" tIns="33875">
              <a:noAutofit/>
            </a:bodyPr>
            <a:lstStyle/>
            <a:p>
              <a:pPr indent="0" lvl="0" marL="0" marR="0" rtl="0" algn="ctr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00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THANK YOU</a:t>
              </a:r>
              <a:endParaRPr sz="55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300" name="Google Shape;300;p29"/>
          <p:cNvSpPr txBox="1"/>
          <p:nvPr>
            <p:ph idx="12" type="sldNum"/>
          </p:nvPr>
        </p:nvSpPr>
        <p:spPr>
          <a:xfrm>
            <a:off x="10680350" y="6423401"/>
            <a:ext cx="1422300" cy="243300"/>
          </a:xfrm>
          <a:prstGeom prst="rect">
            <a:avLst/>
          </a:prstGeom>
        </p:spPr>
        <p:txBody>
          <a:bodyPr anchorCtr="0" anchor="ctr" bIns="30475" lIns="60950" spcFirstLastPara="1" rIns="60950" wrap="square" tIns="30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FFFFF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